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 Model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Dynamic AI-Powered Virtual Agent</a:t>
            </a:r>
          </a:p>
          <a:p>
            <a:r>
              <a:t>for Health Insurance Claim Status Queries</a:t>
            </a:r>
          </a:p>
          <a:p/>
          <a:p>
            <a:r>
              <a:t>Masters Thesis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Thesis: Dynamic AI-Powered Virtual Agent for Health Insurance Claims</a:t>
            </a:r>
          </a:p>
          <a:p>
            <a:pPr>
              <a:spcBef>
                <a:spcPts val="600"/>
              </a:spcBef>
              <a:defRPr sz="1800"/>
            </a:pPr>
            <a:r>
              <a:t>Dataset: CMS DE-SynPUF (500,000 claims from 44.6M total)</a:t>
            </a:r>
          </a:p>
          <a:p>
            <a:pPr>
              <a:spcBef>
                <a:spcPts val="600"/>
              </a:spcBef>
              <a:defRPr sz="1800"/>
            </a:pPr>
            <a:r>
              <a:t>Task 1: Classify claims as Approved or Denied</a:t>
            </a:r>
          </a:p>
          <a:p>
            <a:pPr>
              <a:spcBef>
                <a:spcPts val="600"/>
              </a:spcBef>
              <a:defRPr sz="1800"/>
            </a:pPr>
            <a:r>
              <a:t>Task 2: Predict claim processing days</a:t>
            </a:r>
          </a:p>
          <a:p>
            <a:pPr>
              <a:spcBef>
                <a:spcPts val="600"/>
              </a:spcBef>
              <a:defRPr sz="1800"/>
            </a:pPr>
            <a:r>
              <a:t>7 ML models: 4 traditional + 3 neural networks</a:t>
            </a:r>
          </a:p>
          <a:p>
            <a:pPr>
              <a:spcBef>
                <a:spcPts val="600"/>
              </a:spcBef>
              <a:defRPr sz="1800"/>
            </a:pPr>
            <a:r>
              <a:t>80/20 stratified train-test split (400K train / 100K test)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CMS 2008-2010 DE-SynPUF (Synthetic Public Use File)</a:t>
            </a:r>
          </a:p>
          <a:p>
            <a:pPr>
              <a:spcBef>
                <a:spcPts val="600"/>
              </a:spcBef>
              <a:defRPr sz="1800"/>
            </a:pPr>
            <a:r>
              <a:t>Published by Centers for Medicare &amp; Medicaid Services (CMS)</a:t>
            </a:r>
          </a:p>
          <a:p>
            <a:pPr>
              <a:spcBef>
                <a:spcPts val="600"/>
              </a:spcBef>
              <a:defRPr sz="1800"/>
            </a:pPr>
            <a:r>
              <a:t>Website: cms.gov/data-research/.../de-synpuf</a:t>
            </a:r>
          </a:p>
          <a:p>
            <a:pPr>
              <a:spcBef>
                <a:spcPts val="600"/>
              </a:spcBef>
              <a:defRPr sz="1800"/>
            </a:pPr>
            <a:r>
              <a:t>Synthetic, privacy-safe version of real Medicare claims</a:t>
            </a:r>
          </a:p>
          <a:p>
            <a:pPr>
              <a:spcBef>
                <a:spcPts val="600"/>
              </a:spcBef>
              <a:defRPr sz="1800"/>
            </a:pPr>
            <a:r>
              <a:t>Contains: Beneficiary info, Inpatient, Outpatient, Carrier, Prescription data</a:t>
            </a:r>
          </a:p>
          <a:p>
            <a:pPr>
              <a:spcBef>
                <a:spcPts val="600"/>
              </a:spcBef>
              <a:defRPr sz="1800"/>
            </a:pPr>
            <a:r>
              <a:t>20 samples, ~16 GB+ raw data across all file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Download CMS DE-SynPUF raw ZIP files from CMS.gov</a:t>
            </a:r>
          </a:p>
          <a:p>
            <a:pPr>
              <a:spcBef>
                <a:spcPts val="600"/>
              </a:spcBef>
              <a:defRPr sz="1800"/>
            </a:pPr>
            <a:r>
              <a:t>Step 2: Transform &amp; harmonize 4 claim types into unified schema</a:t>
            </a:r>
          </a:p>
          <a:p>
            <a:pPr>
              <a:spcBef>
                <a:spcPts val="600"/>
              </a:spcBef>
              <a:defRPr sz="1800"/>
            </a:pPr>
            <a:r>
              <a:t>Step 3: Engineer claim status, dates, urgency, member identities</a:t>
            </a:r>
          </a:p>
          <a:p>
            <a:pPr>
              <a:spcBef>
                <a:spcPts val="600"/>
              </a:spcBef>
              <a:defRPr sz="1800"/>
            </a:pPr>
            <a:r>
              <a:t>Step 4: Orchestrate pipeline &amp; merge all samples</a:t>
            </a:r>
          </a:p>
          <a:p>
            <a:pPr>
              <a:spcBef>
                <a:spcPts val="600"/>
              </a:spcBef>
              <a:defRPr sz="1800"/>
            </a:pPr>
            <a:r>
              <a:t>Step 5: Load into SQLite database (44.6M rows, ~18 GB)</a:t>
            </a:r>
          </a:p>
          <a:p>
            <a:pPr>
              <a:spcBef>
                <a:spcPts val="600"/>
              </a:spcBef>
              <a:defRPr sz="1800"/>
            </a:pPr>
            <a:r>
              <a:t>Step 6: Sample 500K claims for ML model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ML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XGBoost: Gradient-boosted trees -- best speed + SHAP explainability</a:t>
            </a:r>
          </a:p>
          <a:p>
            <a:pPr>
              <a:spcBef>
                <a:spcPts val="600"/>
              </a:spcBef>
              <a:defRPr sz="1800"/>
            </a:pPr>
            <a:r>
              <a:t>Random Forest: Bagged trees -- robust baseline, overfitting resistant</a:t>
            </a:r>
          </a:p>
          <a:p>
            <a:pPr>
              <a:spcBef>
                <a:spcPts val="600"/>
              </a:spcBef>
              <a:defRPr sz="1800"/>
            </a:pPr>
            <a:r>
              <a:t>Logistic/Linear Regression: Simple baseline -- interpretability benchmark</a:t>
            </a:r>
          </a:p>
          <a:p>
            <a:pPr>
              <a:spcBef>
                <a:spcPts val="600"/>
              </a:spcBef>
              <a:defRPr sz="1800"/>
            </a:pPr>
            <a:r>
              <a:t>Gradient Boosting (sklearn): Reference implementation -- comparison to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FNN (Feedforward Neural Net): Dense(64-&gt;32-&gt;16) + BatchNorm + Dropout</a:t>
            </a:r>
          </a:p>
          <a:p>
            <a:pPr>
              <a:spcBef>
                <a:spcPts val="600"/>
              </a:spcBef>
              <a:defRPr sz="1800"/>
            </a:pPr>
            <a:r>
              <a:t>CNN (1D Conv): Conv1D(32-&gt;64) + GlobalAvgPool -- local pattern detection</a:t>
            </a:r>
          </a:p>
          <a:p>
            <a:pPr>
              <a:spcBef>
                <a:spcPts val="600"/>
              </a:spcBef>
              <a:defRPr sz="1800"/>
            </a:pPr>
            <a:r>
              <a:t>RNN (LSTM): Stacked LSTM(32-&gt;16) -- sequential feature processing</a:t>
            </a:r>
          </a:p>
          <a:p>
            <a:pPr>
              <a:spcBef>
                <a:spcPts val="600"/>
              </a:spcBef>
              <a:defRPr sz="1800"/>
            </a:pPr>
            <a:r>
              <a:t>All use: Adam optimizer, early stopping, StandardScaler, batch_size=2048</a:t>
            </a:r>
          </a:p>
          <a:p>
            <a:pPr>
              <a:spcBef>
                <a:spcPts val="600"/>
              </a:spcBef>
              <a:defRPr sz="1800"/>
            </a:pPr>
            <a:r>
              <a:t>Framework: TensorFlow/Keras (already required by Rasa)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Traditional ML (4 models): 100% Accuracy, Precision, Recall, F1</a:t>
            </a:r>
          </a:p>
          <a:p>
            <a:pPr>
              <a:spcBef>
                <a:spcPts val="600"/>
              </a:spcBef>
              <a:defRPr sz="1800"/>
            </a:pPr>
            <a:r>
              <a:t>FNN: 99.89% Accuracy, F1=0.9993, AUC=0.9998</a:t>
            </a:r>
          </a:p>
          <a:p>
            <a:pPr>
              <a:spcBef>
                <a:spcPts val="600"/>
              </a:spcBef>
              <a:defRPr sz="1800"/>
            </a:pPr>
            <a:r>
              <a:t>CNN: 99.89% Accuracy, F1=0.9993, AUC=1.0000</a:t>
            </a:r>
          </a:p>
          <a:p>
            <a:pPr>
              <a:spcBef>
                <a:spcPts val="600"/>
              </a:spcBef>
              <a:defRPr sz="1800"/>
            </a:pPr>
            <a:r>
              <a:t>RNN (LSTM): 97.77% Accuracy, F1=0.9864, AUC=0.9967</a:t>
            </a:r>
          </a:p>
          <a:p>
            <a:pPr>
              <a:spcBef>
                <a:spcPts val="600"/>
              </a:spcBef>
              <a:defRPr sz="1800"/>
            </a:pPr>
            <a:r>
              <a:t>All models learn the deterministic clm_pmt_amt -&gt; status rule</a:t>
            </a:r>
          </a:p>
          <a:p>
            <a:pPr>
              <a:spcBef>
                <a:spcPts val="600"/>
              </a:spcBef>
              <a:defRPr sz="1800"/>
            </a:pPr>
            <a:r>
              <a:t>Trees learn it as 1 split; NNs approximate it through gradient descent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Classification Metrics Comparison</a:t>
            </a:r>
          </a:p>
        </p:txBody>
      </p:sp>
      <p:pic>
        <p:nvPicPr>
          <p:cNvPr id="4" name="Picture 3" descr="classifi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Confusion Matrices</a:t>
            </a:r>
          </a:p>
          <a:p>
            <a:pPr algn="ctr">
              <a:defRPr sz="1400">
                <a:solidFill>
                  <a:srgbClr val="6B6B6B"/>
                </a:solidFill>
              </a:defRPr>
            </a:pPr>
            <a:r>
              <a:t>All models: 0 FP, 0 FN across 100,000 test samples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ROC Curves</a:t>
            </a:r>
          </a:p>
          <a:p>
            <a:pPr algn="ctr">
              <a:defRPr sz="1400">
                <a:solidFill>
                  <a:srgbClr val="6B6B6B"/>
                </a:solidFill>
              </a:defRPr>
            </a:pPr>
            <a:r>
              <a:t>All models achieve AUC = 1.0</a:t>
            </a:r>
          </a:p>
        </p:txBody>
      </p:sp>
      <p:pic>
        <p:nvPicPr>
          <p:cNvPr id="4" name="Picture 3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Task: Predict processing days (1-20 days)</a:t>
            </a:r>
          </a:p>
          <a:p>
            <a:pPr>
              <a:spcBef>
                <a:spcPts val="600"/>
              </a:spcBef>
              <a:defRPr sz="1800"/>
            </a:pPr>
            <a:r>
              <a:t>All 7 models: MAE ~ 6.45-6.50 days, RMSE ~ 7.47-7.51 days</a:t>
            </a:r>
          </a:p>
          <a:p>
            <a:pPr>
              <a:spcBef>
                <a:spcPts val="600"/>
              </a:spcBef>
              <a:defRPr sz="1800"/>
            </a:pPr>
            <a:r>
              <a:t>R-squared ~ 0.0 (no predictive signal in any model)</a:t>
            </a:r>
          </a:p>
          <a:p>
            <a:pPr>
              <a:spcBef>
                <a:spcPts val="600"/>
              </a:spcBef>
              <a:defRPr sz="1800"/>
            </a:pPr>
            <a:r>
              <a:t>Neural nets show comparable MAE to traditional models</a:t>
            </a:r>
          </a:p>
          <a:p>
            <a:pPr>
              <a:spcBef>
                <a:spcPts val="600"/>
              </a:spcBef>
              <a:defRPr sz="1800"/>
            </a:pPr>
            <a:r>
              <a:t>Processing days randomly assigned in synthetic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Regression Metrics Comparison</a:t>
            </a:r>
          </a:p>
        </p:txBody>
      </p:sp>
      <p:pic>
        <p:nvPicPr>
          <p:cNvPr id="4" name="Picture 3" descr="regress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Time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Traditional ML: XGBoost 2.1s | RF 5.1s | LogReg 6.5s | GB 22.3s</a:t>
            </a:r>
          </a:p>
          <a:p>
            <a:pPr>
              <a:spcBef>
                <a:spcPts val="600"/>
              </a:spcBef>
              <a:defRPr sz="1800"/>
            </a:pPr>
            <a:r>
              <a:t>Neural Networks: FNN 12.6s | RNN 84.1s | CNN 195.6s</a:t>
            </a:r>
          </a:p>
          <a:p>
            <a:pPr>
              <a:spcBef>
                <a:spcPts val="600"/>
              </a:spcBef>
              <a:defRPr sz="1800"/>
            </a:pPr>
            <a:r>
              <a:t>XGBoost is 93x faster than CNN, 40x faster than RNN</a:t>
            </a:r>
          </a:p>
          <a:p>
            <a:pPr>
              <a:spcBef>
                <a:spcPts val="600"/>
              </a:spcBef>
              <a:defRPr sz="1800"/>
            </a:pPr>
            <a:r>
              <a:t>Neural networks need many gradient descent iterations</a:t>
            </a:r>
          </a:p>
          <a:p>
            <a:pPr>
              <a:spcBef>
                <a:spcPts val="600"/>
              </a:spcBef>
              <a:defRPr sz="1800"/>
            </a:pPr>
            <a:r>
              <a:t>Tree models learn simple rules in a single split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Training Time Visual</a:t>
            </a:r>
          </a:p>
          <a:p>
            <a:pPr algn="ctr">
              <a:defRPr sz="1400">
                <a:solidFill>
                  <a:srgbClr val="6B6B6B"/>
                </a:solidFill>
              </a:defRPr>
            </a:pPr>
            <a:r>
              <a:t>XGBoost dominates on training speed</a:t>
            </a:r>
          </a:p>
        </p:txBody>
      </p:sp>
      <p:pic>
        <p:nvPicPr>
          <p:cNvPr id="4" name="Picture 3" descr="train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1A"/>
                </a:solidFill>
              </a:defRPr>
            </a:pPr>
            <a:r>
              <a:t>Feature Importance</a:t>
            </a:r>
          </a:p>
          <a:p>
            <a:pPr algn="ctr">
              <a:defRPr sz="1400">
                <a:solidFill>
                  <a:srgbClr val="6B6B6B"/>
                </a:solidFill>
              </a:defRPr>
            </a:pPr>
            <a:r>
              <a:t>clm_pmt_amt is the dominant predictor across all tree-based models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Chose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Step 1: All 4 traditional models achieved 100% classification accuracy</a:t>
            </a:r>
          </a:p>
          <a:p>
            <a:pPr>
              <a:spcBef>
                <a:spcPts val="600"/>
              </a:spcBef>
              <a:defRPr sz="1800"/>
            </a:pPr>
            <a:r>
              <a:t>Step 2: Neural nets achieved 97.8-99.9% -- close but slower</a:t>
            </a:r>
          </a:p>
          <a:p>
            <a:pPr>
              <a:spcBef>
                <a:spcPts val="600"/>
              </a:spcBef>
              <a:defRPr sz="1800"/>
            </a:pPr>
            <a:r>
              <a:t>Step 3: XGBoost 93x faster than CNN (2.1s vs 195.6s)</a:t>
            </a:r>
          </a:p>
          <a:p>
            <a:pPr>
              <a:spcBef>
                <a:spcPts val="600"/>
              </a:spcBef>
              <a:defRPr sz="1800"/>
            </a:pPr>
            <a:r>
              <a:t>Step 4: XGBoost has native SHAP for patient-facing explanations</a:t>
            </a:r>
          </a:p>
          <a:p>
            <a:pPr>
              <a:spcBef>
                <a:spcPts val="600"/>
              </a:spcBef>
              <a:defRPr sz="1800"/>
            </a:pPr>
            <a:r>
              <a:t>Step 5: NNs add complexity with no accuracy gain on this data</a:t>
            </a:r>
          </a:p>
          <a:p>
            <a:pPr>
              <a:spcBef>
                <a:spcPts val="600"/>
              </a:spcBef>
              <a:defRPr sz="1800"/>
            </a:pPr>
            <a:r>
              <a:t>Step 6: Mature ecosystem, efficient serialization, production-ready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44.6M CMS claims processed through automated ETL pipeline</a:t>
            </a:r>
          </a:p>
          <a:p>
            <a:pPr>
              <a:spcBef>
                <a:spcPts val="600"/>
              </a:spcBef>
              <a:defRPr sz="1800"/>
            </a:pPr>
            <a:r>
              <a:t>7 ML models trained: 4 traditional + 3 neural networks</a:t>
            </a:r>
          </a:p>
          <a:p>
            <a:pPr>
              <a:spcBef>
                <a:spcPts val="600"/>
              </a:spcBef>
              <a:defRPr sz="1800"/>
            </a:pPr>
            <a:r>
              <a:t>Traditional ML achieves 100% accuracy; NNs achieve 97.8-99.9%</a:t>
            </a:r>
          </a:p>
          <a:p>
            <a:pPr>
              <a:spcBef>
                <a:spcPts val="600"/>
              </a:spcBef>
              <a:defRPr sz="1800"/>
            </a:pPr>
            <a:r>
              <a:t>XGBoost selected: fastest (2.1s) + SHAP + production-ready</a:t>
            </a:r>
          </a:p>
          <a:p>
            <a:pPr>
              <a:spcBef>
                <a:spcPts val="600"/>
              </a:spcBef>
              <a:defRPr sz="1800"/>
            </a:pPr>
            <a:r>
              <a:t>Neural nets validate findings but add no advantage on this data</a:t>
            </a:r>
          </a:p>
          <a:p>
            <a:pPr>
              <a:spcBef>
                <a:spcPts val="600"/>
              </a:spcBef>
              <a:defRPr sz="1800"/>
            </a:pPr>
            <a:r>
              <a:t>Interactive BI dashboard built with Streamlit + Plotly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ClaimBot AI - Masters Thesis Project</a:t>
            </a:r>
          </a:p>
          <a:p>
            <a:r>
              <a:t>ML Model Comparison Dashboard: localhost:8502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