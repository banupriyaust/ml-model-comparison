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A3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Anomaly Detection in Healthcare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FFF0"/>
                </a:solidFill>
              </a:defRPr>
            </a:pPr>
            <a:r>
              <a:t>Deep Learning vs Traditional ML for Fraud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E8D8"/>
                </a:solidFill>
              </a:defRPr>
            </a:pPr>
            <a:r>
              <a:t>Masters Thesis  |  CMS DE-SynPUF  |  1,000,000 Claims  |  5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"Can deep learning-based anomaly detection identify potentially fraudulent or anomalous billing patterns in health insurance claims data, and how do autoencoder architectures compare to traditional anomaly detection methods?"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A4A4A"/>
                </a:solidFill>
              </a:defRPr>
            </a:pPr>
            <a:r>
              <a:t>Unsupervised approach: no fraud labels needed</a:t>
            </a:r>
          </a:p>
          <a:p>
            <a:pPr>
              <a:spcAft>
                <a:spcPts val="600"/>
              </a:spcAft>
              <a:defRPr sz="1800">
                <a:solidFill>
                  <a:srgbClr val="4A4A4A"/>
                </a:solidFill>
              </a:defRPr>
            </a:pPr>
            <a:r>
              <a:t>Models learn "normal" claim patterns, flag deviations</a:t>
            </a:r>
          </a:p>
          <a:p>
            <a:pPr>
              <a:spcAft>
                <a:spcPts val="600"/>
              </a:spcAft>
              <a:defRPr sz="1800">
                <a:solidFill>
                  <a:srgbClr val="4A4A4A"/>
                </a:solidFill>
              </a:defRPr>
            </a:pPr>
            <a:r>
              <a:t>5 synthetic fraud types injected for evaluation</a:t>
            </a:r>
          </a:p>
          <a:p>
            <a:pPr>
              <a:spcAft>
                <a:spcPts val="600"/>
              </a:spcAft>
              <a:defRPr sz="1800">
                <a:solidFill>
                  <a:srgbClr val="4A4A4A"/>
                </a:solidFill>
              </a:defRPr>
            </a:pPr>
            <a:r>
              <a:t>31 features engineered from 32 database columns</a:t>
            </a:r>
          </a:p>
          <a:p>
            <a:pPr>
              <a:spcAft>
                <a:spcPts val="600"/>
              </a:spcAft>
              <a:defRPr sz="1800">
                <a:solidFill>
                  <a:srgbClr val="4A4A4A"/>
                </a:solidFill>
              </a:defRPr>
            </a:pPr>
            <a:r>
              <a:t>Dataset: 1M sample from 44.6M CMS DE-SynPUF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Models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A37F"/>
                </a:solidFill>
              </a:defRPr>
            </a:pPr>
            <a:r>
              <a:t>Deep Learning (3)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Autoencoder: 31→64→32→16→8→16→32→64→31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  Dense symmetric encoder-decoder, MSE loss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VAE: Variational Autoencoder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  Reparameterization trick, KL divergence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CNN Autoencoder: 1D Convolutional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  Conv1D→BatchNorm→GlobalAvgPool→Dense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Traditional ML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Isolation Forest: 200 trees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  Random partitioning, shorter path = anomaly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One-Class SVM: RBF kernel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  Decision boundary around normal data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  Subsampled to 50K (memory constraint)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Feature Engineering: 31 Features from 32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</a:defRPr>
            </a:pPr>
            <a:r>
              <a:t>Payment (5)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pmt amount, approved amount,</a:t>
            </a:r>
            <a:br/>
            <a:r>
              <a:t>ratio, diff, negative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</a:defRPr>
            </a:pPr>
            <a:r>
              <a:t>Temporal (8)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claim duration, submission gap,</a:t>
            </a:r>
            <a:br/>
            <a:r>
              <a:t>review time, cycle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</a:defRPr>
            </a:pPr>
            <a:r>
              <a:t>Diagnosis (4)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code count, frequency,</a:t>
            </a:r>
            <a:br/>
            <a:r>
              <a:t>secondary flag, rarity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</a:defRPr>
            </a:pPr>
            <a:r>
              <a:t>Provider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7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volume, avg payment,</a:t>
            </a:r>
            <a:br/>
            <a:r>
              <a:t>category entropy, physician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40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</a:defRPr>
            </a:pPr>
            <a:r>
              <a:t>Member 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9767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claim frequency,</a:t>
            </a:r>
            <a:br/>
            <a:r>
              <a:t>avg payment, unique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840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37F"/>
                </a:solidFill>
              </a:defRPr>
            </a:pPr>
            <a:r>
              <a:t>Categorical (6)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29767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urgency ordinal, appeal flag,</a:t>
            </a:r>
            <a:br/>
            <a:r>
              <a:t>claim category one-hot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Results: 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Precision-Recall Curves</a:t>
            </a:r>
          </a:p>
        </p:txBody>
      </p:sp>
      <p:pic>
        <p:nvPicPr>
          <p:cNvPr id="3" name="Picture 2" descr="precision_recal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Reconstruction Error Distributions</a:t>
            </a:r>
          </a:p>
        </p:txBody>
      </p:sp>
      <p:pic>
        <p:nvPicPr>
          <p:cNvPr id="3" name="Picture 2" descr="reconstruction_err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Anomaly Score Visualization (PCA)</a:t>
            </a:r>
          </a:p>
        </p:txBody>
      </p:sp>
      <p:pic>
        <p:nvPicPr>
          <p:cNvPr id="3" name="Picture 2" descr="anomal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82296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Top Features for Anomaly Detection</a:t>
            </a:r>
          </a:p>
        </p:txBody>
      </p:sp>
      <p:pic>
        <p:nvPicPr>
          <p:cNvPr id="3" name="Picture 2" descr="feature_importance_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Project Script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config.py — Paths, hyperparameters, constants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data_loader.py — SQLite sampling + Parquet caching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feature_engineering.py — 31 features from 32 columns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models/autoencoder.py — Dense Autoencoder (Keras)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models/vae.py — Variational Autoencoder (Keras 3)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models/cnn_autoencoder.py — 1D-CNN Autoencoder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models/traditional.py — Isolation Forest + One-Class SVM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synthetic_anomalies.py — 5 fraud patterns for evaluation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evaluate.py — Scoring, thresholds, PR/F1/AUC-PR metrics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train_anomaly_models.py — Main pipeline orchestrator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anomaly_dashboard.py — 6-tab Streamlit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A37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Autoencoder: AUC-PR = 0.984, 100% recall — best deep learning model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One-Class SVM: AUC-PR = 0.988, 100% recall — best overall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CNN Autoencoder: AUC-PR = 0.929, 90.4% recall — strong third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VAE (0.594) and Isolation Forest (0.504) underperformed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Payment ratio and provider volume were most discriminative features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Deep learning matches or exceeds traditional ML for anomaly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A3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FFF0"/>
                </a:solidFill>
              </a:defRPr>
            </a:pPr>
            <a:r>
              <a:t>Deep learning autoencoders effectively detect anomalous billing patterns in healthcare claims without requiring labeled fraud data.</a:t>
            </a:r>
            <a:br/>
            <a:br/>
            <a:r>
              <a:t>The Autoencoder (AUC-PR 0.984) performs comparably to the One-Class SVM (0.988), proving that unsupervised deep learning is a viable approach for healthcare fraud detection at scale.</a:t>
            </a:r>
            <a:br/>
            <a:br/>
            <a:r>
              <a:t>All 31 engineered features, 5 models, and interactive dashboard are available for reproducible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